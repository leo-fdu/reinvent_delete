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774" y="7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2DB79-0D69-49B4-914A-B9063939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F38886-A0FC-4C90-92E4-9F4AADCDB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AE566-3745-43E8-BE8F-FBA195DD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11CBA-011A-4E36-9BD7-A9C1FF7F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26EE23-4696-42B0-8A6A-6292A313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706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EE630-84A1-46F9-9BA8-0F7D4D4B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4454ED-7602-4B43-99FC-CF3F985EE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4AF087-57CF-41C3-A04A-AAB1969C5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1E47F6-1527-4B20-BC32-7DC55B6F1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BF835E-4A86-4E11-A179-FBA5A8E4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53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98D71-EFB5-4BDD-AB98-5B49D868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B0A268-120E-4D16-9D1D-C57FB362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74773-D0C7-4803-B2B3-13CC3D31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4ED567-B573-4FE9-9940-396FF07C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54F889-020F-42D5-B828-43C1F839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49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F2664-22F9-4BDE-9B41-F8C1817B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4F66B4-A92A-4908-9424-AA6F55EBE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637963-9FC4-486F-B150-3B7EBC7C2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8245E-8160-4060-8EEC-AD1BA36D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7BCF5D-3556-49A6-AA32-6CB10D72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03EBB1-4ADD-42CF-BED4-A824FEFE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7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5C4F8-C75B-416B-BD85-0CFEAD6F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183D23-10C3-4D53-BF8F-59ED3716E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51411C-D1B4-40B9-8B09-607389BE9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286163-586C-47E9-99E5-0FE6BF99D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15DE1D-5056-4D8F-8260-DA9914D94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E21B1-4B7F-410C-B67A-3E9B33B0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4FC82B-5930-4F23-BF94-F56B1870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B7A7F5-B55C-400A-9346-0181F249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9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B1E52-634C-455D-B509-EBE049E2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CD8965-A6B2-4E72-872E-1484073E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DC16EF-4BE7-44E0-B33A-29B6F678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A915AC-08A1-4188-A656-CCB74EA6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61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29C90-E51A-4AA5-A971-9A61DF879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EF48DB-7D08-48F5-84A5-0BF9F4ED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2334A4-96D8-4E1D-9586-E196BB2C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69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17F35-A7B5-499A-8407-ABBDE4D1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83036E-CE17-43BC-9DB3-AD82D495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87CEBE-8D4B-4FE1-8255-ECCA1E38F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D5D9FF-FD13-4C2D-A582-FF5B1176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0822E7-6CD4-422E-85C5-27430A036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C1BB28-351F-4629-946F-27797226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24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9EAAD-2CFC-4314-B72D-B163C26C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9F6DEC-F9B8-4DAD-9D31-FDEA46B33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2F0403-3590-49EA-AB12-C50390A47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1B5C8E-F7A9-4B50-8E0B-CDDA00A8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A688A3-9A56-4E86-9FE2-FAB561C3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753847-CA01-4CA1-A7A3-874383DC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7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67310-58F1-4647-94B5-2691346E2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1F9647-A8E1-41B9-AB79-A50D7EE71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09786-54C6-4C3C-9F75-FB79A97D4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A7045F-D3D1-465B-9EE3-7102B5B1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157173-25BB-448D-A126-7A60DDC5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00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1DD258-464D-471E-A5D4-517708DD8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40AF8F-EA55-47E7-A23F-F98147671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608DE-D925-43BC-8D3C-73161A9D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4FE70-7A3F-4E54-B9F8-BB8DABDF0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1FC51-04BF-4CBA-BF89-194F81E7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14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625E12-5B60-4026-AFC2-A83F5FB2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D1A88E-F1C1-4871-BE70-C75845122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F1C4E-7AEC-4F87-93C3-01BC4DE80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2A556-D4E2-4A48-812D-A3BDC185FE18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0F63F-F28C-4980-A844-4A64CB552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CA63A6-1977-4DEA-848A-7B2E4DA20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68F87-8CB7-4767-8C92-5E2253E60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5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752B93B-4881-4BA6-AC03-C136BEB98807}"/>
              </a:ext>
            </a:extLst>
          </p:cNvPr>
          <p:cNvSpPr txBox="1"/>
          <p:nvPr/>
        </p:nvSpPr>
        <p:spPr>
          <a:xfrm>
            <a:off x="694362" y="513976"/>
            <a:ext cx="7923944" cy="111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整个测试集 </a:t>
            </a:r>
            <a:r>
              <a:rPr lang="en-US" altLang="zh-CN" dirty="0"/>
              <a:t>785 </a:t>
            </a:r>
            <a:r>
              <a:rPr lang="zh-CN" altLang="en-US" dirty="0"/>
              <a:t>个靶点口袋表面积范围是 </a:t>
            </a:r>
            <a:r>
              <a:rPr lang="en-US" altLang="zh-CN" dirty="0"/>
              <a:t>96–536 Å²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设置 </a:t>
            </a:r>
            <a:r>
              <a:rPr lang="en-US" altLang="zh-CN" dirty="0"/>
              <a:t>7 </a:t>
            </a:r>
            <a:r>
              <a:rPr lang="zh-CN" altLang="en-US" dirty="0"/>
              <a:t>个等距目标值，每个目标选取表面积最接近且尚未被选中的靶点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1A21A1-4C84-4880-A1B6-259DF58B7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369168"/>
              </p:ext>
            </p:extLst>
          </p:nvPr>
        </p:nvGraphicFramePr>
        <p:xfrm>
          <a:off x="694362" y="2233088"/>
          <a:ext cx="10515600" cy="2926080"/>
        </p:xfrm>
        <a:graphic>
          <a:graphicData uri="http://schemas.openxmlformats.org/drawingml/2006/table">
            <a:tbl>
              <a:tblPr>
                <a:tableStyleId>{EB344D84-9AFB-497E-A393-DC336BA19D2E}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8930729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207168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18218581"/>
                    </a:ext>
                  </a:extLst>
                </a:gridCol>
                <a:gridCol w="1383587">
                  <a:extLst>
                    <a:ext uri="{9D8B030D-6E8A-4147-A177-3AD203B41FA5}">
                      <a16:colId xmlns:a16="http://schemas.microsoft.com/office/drawing/2014/main" val="999261658"/>
                    </a:ext>
                  </a:extLst>
                </a:gridCol>
                <a:gridCol w="1859622">
                  <a:extLst>
                    <a:ext uri="{9D8B030D-6E8A-4147-A177-3AD203B41FA5}">
                      <a16:colId xmlns:a16="http://schemas.microsoft.com/office/drawing/2014/main" val="150066243"/>
                    </a:ext>
                  </a:extLst>
                </a:gridCol>
                <a:gridCol w="2014591">
                  <a:extLst>
                    <a:ext uri="{9D8B030D-6E8A-4147-A177-3AD203B41FA5}">
                      <a16:colId xmlns:a16="http://schemas.microsoft.com/office/drawing/2014/main" val="191050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/>
                        <a:t>目标层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测试集位置</a:t>
                      </a:r>
                      <a:endParaRPr lang="en-US" altLang="zh-CN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PDB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表面积（</a:t>
                      </a:r>
                      <a:r>
                        <a:rPr lang="en-US" dirty="0"/>
                        <a:t>Å²）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Concavity（Å³）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641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641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135853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4qyg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77.522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75031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81720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4u1o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122.944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935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68990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2roy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410.389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2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r>
                        <a:rPr lang="en-US" altLang="zh-CN" dirty="0"/>
                        <a:t>n4f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485.640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402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115690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3vhw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489.833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111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147001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4o5k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373.962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7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69315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4pwj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481.855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2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5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7B4196-5129-48F4-9C3D-4B805B329251}"/>
              </a:ext>
            </a:extLst>
          </p:cNvPr>
          <p:cNvSpPr txBox="1"/>
          <p:nvPr/>
        </p:nvSpPr>
        <p:spPr>
          <a:xfrm>
            <a:off x="694362" y="513976"/>
            <a:ext cx="7923944" cy="560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上述挑选靶点在</a:t>
            </a:r>
            <a:r>
              <a:rPr lang="en-US" altLang="zh-CN" dirty="0" err="1"/>
              <a:t>CheMBL</a:t>
            </a:r>
            <a:r>
              <a:rPr lang="zh-CN" altLang="en-US" dirty="0"/>
              <a:t>中对应的活性分子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12F631-271C-496C-B319-98AE69F9A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252675"/>
              </p:ext>
            </p:extLst>
          </p:nvPr>
        </p:nvGraphicFramePr>
        <p:xfrm>
          <a:off x="694362" y="1229727"/>
          <a:ext cx="11196747" cy="4716213"/>
        </p:xfrm>
        <a:graphic>
          <a:graphicData uri="http://schemas.openxmlformats.org/drawingml/2006/table">
            <a:tbl>
              <a:tblPr>
                <a:tableStyleId>{EB344D84-9AFB-497E-A393-DC336BA19D2E}</a:tableStyleId>
              </a:tblPr>
              <a:tblGrid>
                <a:gridCol w="1757508">
                  <a:extLst>
                    <a:ext uri="{9D8B030D-6E8A-4147-A177-3AD203B41FA5}">
                      <a16:colId xmlns:a16="http://schemas.microsoft.com/office/drawing/2014/main" val="1104390482"/>
                    </a:ext>
                  </a:extLst>
                </a:gridCol>
                <a:gridCol w="4092768">
                  <a:extLst>
                    <a:ext uri="{9D8B030D-6E8A-4147-A177-3AD203B41FA5}">
                      <a16:colId xmlns:a16="http://schemas.microsoft.com/office/drawing/2014/main" val="1814938256"/>
                    </a:ext>
                  </a:extLst>
                </a:gridCol>
                <a:gridCol w="2547284">
                  <a:extLst>
                    <a:ext uri="{9D8B030D-6E8A-4147-A177-3AD203B41FA5}">
                      <a16:colId xmlns:a16="http://schemas.microsoft.com/office/drawing/2014/main" val="3623990955"/>
                    </a:ext>
                  </a:extLst>
                </a:gridCol>
                <a:gridCol w="2799187">
                  <a:extLst>
                    <a:ext uri="{9D8B030D-6E8A-4147-A177-3AD203B41FA5}">
                      <a16:colId xmlns:a16="http://schemas.microsoft.com/office/drawing/2014/main" val="3260423010"/>
                    </a:ext>
                  </a:extLst>
                </a:gridCol>
              </a:tblGrid>
              <a:tr h="162667">
                <a:tc>
                  <a:txBody>
                    <a:bodyPr/>
                    <a:lstStyle/>
                    <a:p>
                      <a:r>
                        <a:rPr lang="en-US" sz="1600"/>
                        <a:t>PDB</a:t>
                      </a:r>
                    </a:p>
                  </a:txBody>
                  <a:tcPr marL="40667" marR="40667" marT="20333" marB="203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对应蛋白靶点</a:t>
                      </a:r>
                    </a:p>
                  </a:txBody>
                  <a:tcPr marL="40667" marR="40667" marT="20333" marB="203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ChEMBL</a:t>
                      </a:r>
                      <a:r>
                        <a:rPr lang="zh-CN" altLang="en-US" sz="1600"/>
                        <a:t>情况</a:t>
                      </a:r>
                    </a:p>
                  </a:txBody>
                  <a:tcPr marL="40667" marR="40667" marT="20333" marB="203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备注</a:t>
                      </a:r>
                    </a:p>
                  </a:txBody>
                  <a:tcPr marL="40667" marR="40667" marT="20333" marB="203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277232"/>
                  </a:ext>
                </a:extLst>
              </a:tr>
              <a:tr h="528667">
                <a:tc>
                  <a:txBody>
                    <a:bodyPr/>
                    <a:lstStyle/>
                    <a:p>
                      <a:r>
                        <a:rPr lang="en-US" sz="1600" dirty="0"/>
                        <a:t>4QYG</a:t>
                      </a:r>
                    </a:p>
                  </a:txBody>
                  <a:tcPr marL="40667" marR="40667" marT="20333" marB="203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人源检查点激酶 </a:t>
                      </a:r>
                      <a:r>
                        <a:rPr lang="en-US" altLang="zh-CN" sz="1600" dirty="0"/>
                        <a:t>CHK1</a:t>
                      </a:r>
                    </a:p>
                  </a:txBody>
                  <a:tcPr marL="40667" marR="40667" marT="20333" marB="203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/>
                        <a:t>有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sz="1600" dirty="0"/>
                        <a:t>CHEMBL4630</a:t>
                      </a:r>
                    </a:p>
                  </a:txBody>
                  <a:tcPr marL="40667" marR="40667" marT="20333" marB="203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有多种 </a:t>
                      </a:r>
                      <a:r>
                        <a:rPr lang="en-US" sz="1600" dirty="0"/>
                        <a:t>CHK1 </a:t>
                      </a:r>
                      <a:r>
                        <a:rPr lang="zh-CN" altLang="en-US" sz="1600" dirty="0"/>
                        <a:t>抑制剂的活性记录，例如 </a:t>
                      </a:r>
                      <a:r>
                        <a:rPr lang="en-US" sz="1600" dirty="0"/>
                        <a:t>CHIR-124。</a:t>
                      </a:r>
                      <a:endParaRPr lang="zh-CN" altLang="en-US" sz="1600" dirty="0"/>
                    </a:p>
                  </a:txBody>
                  <a:tcPr marL="40667" marR="40667" marT="20333" marB="203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37895542"/>
                  </a:ext>
                </a:extLst>
              </a:tr>
              <a:tr h="628783">
                <a:tc>
                  <a:txBody>
                    <a:bodyPr/>
                    <a:lstStyle/>
                    <a:p>
                      <a:r>
                        <a:rPr lang="en-US" sz="1600"/>
                        <a:t>4U1O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大鼠谷氨酸受体 </a:t>
                      </a:r>
                      <a:r>
                        <a:rPr lang="en-US" sz="1600" dirty="0"/>
                        <a:t>GluA2（GRIA2）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/>
                        <a:t>有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sz="1600" dirty="0"/>
                        <a:t>CHEMBL3503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600" dirty="0" err="1"/>
                        <a:t>ChEMBL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收录了大鼠 </a:t>
                      </a:r>
                      <a:r>
                        <a:rPr lang="en-US" altLang="zh-CN" sz="1600" dirty="0"/>
                        <a:t>GluA2 </a:t>
                      </a:r>
                      <a:r>
                        <a:rPr lang="zh-CN" altLang="en-US" sz="1600" dirty="0"/>
                        <a:t>的活性数据，例如受体功能实验记录。</a:t>
                      </a:r>
                    </a:p>
                  </a:txBody>
                  <a:tcPr marL="40667" marR="40667" marT="20333" marB="20333" anchor="ctr"/>
                </a:tc>
                <a:extLst>
                  <a:ext uri="{0D108BD9-81ED-4DB2-BD59-A6C34878D82A}">
                    <a16:rowId xmlns:a16="http://schemas.microsoft.com/office/drawing/2014/main" val="2409887087"/>
                  </a:ext>
                </a:extLst>
              </a:tr>
              <a:tr h="528667">
                <a:tc>
                  <a:txBody>
                    <a:bodyPr/>
                    <a:lstStyle/>
                    <a:p>
                      <a:r>
                        <a:rPr lang="en-US" sz="1600"/>
                        <a:t>2ROY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人源转甲状腺素蛋白 </a:t>
                      </a:r>
                      <a:r>
                        <a:rPr lang="en-US" altLang="zh-CN" sz="1600" dirty="0"/>
                        <a:t>TTR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有</a:t>
                      </a:r>
                      <a:r>
                        <a:rPr lang="zh-CN" altLang="en-US" sz="1600"/>
                        <a:t>，</a:t>
                      </a:r>
                      <a:r>
                        <a:rPr lang="en-US" sz="1600"/>
                        <a:t>CHEMBL3194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有 </a:t>
                      </a:r>
                      <a:r>
                        <a:rPr lang="en-US" altLang="zh-CN" sz="1600" dirty="0"/>
                        <a:t>TTR </a:t>
                      </a:r>
                      <a:r>
                        <a:rPr lang="zh-CN" altLang="en-US" sz="1600" dirty="0"/>
                        <a:t>结合、稳定化及淀粉样纤维形成抑制等活性数据。</a:t>
                      </a:r>
                    </a:p>
                  </a:txBody>
                  <a:tcPr marL="40667" marR="40667" marT="20333" marB="20333" anchor="ctr"/>
                </a:tc>
                <a:extLst>
                  <a:ext uri="{0D108BD9-81ED-4DB2-BD59-A6C34878D82A}">
                    <a16:rowId xmlns:a16="http://schemas.microsoft.com/office/drawing/2014/main" val="4228486689"/>
                  </a:ext>
                </a:extLst>
              </a:tr>
              <a:tr h="650667">
                <a:tc>
                  <a:txBody>
                    <a:bodyPr/>
                    <a:lstStyle/>
                    <a:p>
                      <a:r>
                        <a:rPr lang="en-US" sz="1600" dirty="0"/>
                        <a:t>4N4F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人源</a:t>
                      </a:r>
                      <a:r>
                        <a:rPr lang="en-US" altLang="zh-CN" sz="1600" dirty="0"/>
                        <a:t>CREB</a:t>
                      </a:r>
                      <a:r>
                        <a:rPr lang="zh-CN" altLang="en-US" sz="1600" dirty="0"/>
                        <a:t>结合蛋白（</a:t>
                      </a:r>
                      <a:r>
                        <a:rPr lang="en-US" altLang="zh-CN" sz="1600" dirty="0"/>
                        <a:t>CREBBP/CBP</a:t>
                      </a:r>
                      <a:r>
                        <a:rPr lang="zh-CN" altLang="en-US" sz="1600" dirty="0"/>
                        <a:t>）溴结构域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/>
                        <a:t>有，</a:t>
                      </a:r>
                      <a:r>
                        <a:rPr lang="en-US" altLang="zh-CN" sz="1600" dirty="0"/>
                        <a:t>CHEMBL5747</a:t>
                      </a:r>
                      <a:endParaRPr lang="zh-CN" altLang="en-US" sz="1600" dirty="0"/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有针对 </a:t>
                      </a:r>
                      <a:r>
                        <a:rPr lang="en-US" altLang="zh-CN" sz="1600" dirty="0"/>
                        <a:t>CREBBP bromodomain </a:t>
                      </a:r>
                      <a:r>
                        <a:rPr lang="zh-CN" altLang="en-US" sz="1600" dirty="0"/>
                        <a:t>的肽置换实验记录，</a:t>
                      </a:r>
                      <a:r>
                        <a:rPr lang="en-US" altLang="zh-CN" sz="1600" dirty="0"/>
                        <a:t>IC₅₀ </a:t>
                      </a:r>
                      <a:r>
                        <a:rPr lang="zh-CN" altLang="en-US" sz="1600" dirty="0"/>
                        <a:t>约 </a:t>
                      </a:r>
                      <a:r>
                        <a:rPr lang="en-US" altLang="zh-CN" sz="1600" dirty="0"/>
                        <a:t>631 </a:t>
                      </a:r>
                      <a:r>
                        <a:rPr lang="en-US" altLang="zh-CN" sz="1600" dirty="0" err="1"/>
                        <a:t>nM</a:t>
                      </a:r>
                      <a:endParaRPr lang="zh-CN" altLang="en-US" sz="1600" dirty="0"/>
                    </a:p>
                  </a:txBody>
                  <a:tcPr marL="40667" marR="40667" marT="20333" marB="20333" anchor="ctr"/>
                </a:tc>
                <a:extLst>
                  <a:ext uri="{0D108BD9-81ED-4DB2-BD59-A6C34878D82A}">
                    <a16:rowId xmlns:a16="http://schemas.microsoft.com/office/drawing/2014/main" val="1778703036"/>
                  </a:ext>
                </a:extLst>
              </a:tr>
              <a:tr h="528667">
                <a:tc>
                  <a:txBody>
                    <a:bodyPr/>
                    <a:lstStyle/>
                    <a:p>
                      <a:r>
                        <a:rPr lang="en-US" sz="1600"/>
                        <a:t>3VHW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人源维生素 </a:t>
                      </a:r>
                      <a:r>
                        <a:rPr lang="en-US" altLang="zh-CN" sz="1600"/>
                        <a:t>D </a:t>
                      </a:r>
                      <a:r>
                        <a:rPr lang="zh-CN" altLang="en-US" sz="1600"/>
                        <a:t>受体 </a:t>
                      </a:r>
                      <a:r>
                        <a:rPr lang="en-US" altLang="zh-CN" sz="1600"/>
                        <a:t>VDR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有</a:t>
                      </a:r>
                      <a:r>
                        <a:rPr lang="zh-CN" altLang="en-US" sz="1600"/>
                        <a:t>，</a:t>
                      </a:r>
                      <a:r>
                        <a:rPr lang="en-US" sz="1600"/>
                        <a:t>CHEMBL1977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有 </a:t>
                      </a:r>
                      <a:r>
                        <a:rPr lang="en-US" altLang="zh-CN" sz="1600" dirty="0"/>
                        <a:t>VDR </a:t>
                      </a:r>
                      <a:r>
                        <a:rPr lang="zh-CN" altLang="en-US" sz="1600" dirty="0"/>
                        <a:t>激动剂等活性记录，例如 </a:t>
                      </a:r>
                      <a:r>
                        <a:rPr lang="en-US" altLang="zh-CN" sz="1600" dirty="0"/>
                        <a:t>LG190178</a:t>
                      </a:r>
                      <a:r>
                        <a:rPr lang="zh-CN" altLang="en-US" sz="1600" dirty="0"/>
                        <a:t>。</a:t>
                      </a:r>
                    </a:p>
                  </a:txBody>
                  <a:tcPr marL="40667" marR="40667" marT="20333" marB="20333" anchor="ctr"/>
                </a:tc>
                <a:extLst>
                  <a:ext uri="{0D108BD9-81ED-4DB2-BD59-A6C34878D82A}">
                    <a16:rowId xmlns:a16="http://schemas.microsoft.com/office/drawing/2014/main" val="3790219217"/>
                  </a:ext>
                </a:extLst>
              </a:tr>
              <a:tr h="528667">
                <a:tc>
                  <a:txBody>
                    <a:bodyPr/>
                    <a:lstStyle/>
                    <a:p>
                      <a:r>
                        <a:rPr lang="en-US" sz="1600"/>
                        <a:t>4O5K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/>
                        <a:t>人源 </a:t>
                      </a:r>
                      <a:r>
                        <a:rPr lang="en-US" sz="1600"/>
                        <a:t>DNA </a:t>
                      </a:r>
                      <a:r>
                        <a:rPr lang="zh-CN" altLang="en-US" sz="1600"/>
                        <a:t>聚合酶 </a:t>
                      </a:r>
                      <a:r>
                        <a:rPr lang="el-GR" sz="1600"/>
                        <a:t>β（</a:t>
                      </a:r>
                      <a:r>
                        <a:rPr lang="en-US" sz="1600"/>
                        <a:t>POLB）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有</a:t>
                      </a:r>
                      <a:r>
                        <a:rPr lang="zh-CN" altLang="en-US" sz="1600"/>
                        <a:t>，</a:t>
                      </a:r>
                      <a:r>
                        <a:rPr lang="en-US" sz="1600"/>
                        <a:t>CHEMBL2392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有该靶点的化合物活性记录，例如 </a:t>
                      </a:r>
                      <a:r>
                        <a:rPr lang="en-US" altLang="zh-CN" sz="1600" dirty="0"/>
                        <a:t>2′,3′-ddATP</a:t>
                      </a:r>
                      <a:r>
                        <a:rPr lang="zh-CN" altLang="en-US" sz="1600" dirty="0"/>
                        <a:t>。</a:t>
                      </a:r>
                    </a:p>
                  </a:txBody>
                  <a:tcPr marL="40667" marR="40667" marT="20333" marB="20333" anchor="ctr"/>
                </a:tc>
                <a:extLst>
                  <a:ext uri="{0D108BD9-81ED-4DB2-BD59-A6C34878D82A}">
                    <a16:rowId xmlns:a16="http://schemas.microsoft.com/office/drawing/2014/main" val="331243328"/>
                  </a:ext>
                </a:extLst>
              </a:tr>
              <a:tr h="772667">
                <a:tc>
                  <a:txBody>
                    <a:bodyPr/>
                    <a:lstStyle/>
                    <a:p>
                      <a:r>
                        <a:rPr lang="en-US" sz="1600"/>
                        <a:t>4PWJ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人源 </a:t>
                      </a:r>
                      <a:r>
                        <a:rPr lang="en-US" altLang="zh-CN" sz="1600" dirty="0"/>
                        <a:t>TTR </a:t>
                      </a:r>
                      <a:r>
                        <a:rPr lang="zh-CN" altLang="en-US" sz="1600" dirty="0"/>
                        <a:t>的 </a:t>
                      </a:r>
                      <a:r>
                        <a:rPr lang="en-US" altLang="zh-CN" sz="1600" dirty="0"/>
                        <a:t>V30M </a:t>
                      </a:r>
                      <a:r>
                        <a:rPr lang="zh-CN" altLang="en-US" sz="1600" dirty="0"/>
                        <a:t>突变体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/>
                        <a:t>有</a:t>
                      </a:r>
                      <a:r>
                        <a:rPr lang="zh-CN" altLang="en-US" sz="1600"/>
                        <a:t>，</a:t>
                      </a:r>
                      <a:r>
                        <a:rPr lang="en-US" sz="1600"/>
                        <a:t>CHEMBL3194</a:t>
                      </a:r>
                    </a:p>
                  </a:txBody>
                  <a:tcPr marL="40667" marR="40667" marT="20333" marB="20333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600" dirty="0"/>
                        <a:t>对应 </a:t>
                      </a:r>
                      <a:r>
                        <a:rPr lang="en-US" altLang="zh-CN" sz="1600" dirty="0"/>
                        <a:t>TTR </a:t>
                      </a:r>
                      <a:r>
                        <a:rPr lang="zh-CN" altLang="en-US" sz="1600" dirty="0"/>
                        <a:t>靶点；</a:t>
                      </a:r>
                      <a:r>
                        <a:rPr lang="en-US" altLang="zh-CN" sz="1600" dirty="0" err="1"/>
                        <a:t>ChEMBL</a:t>
                      </a:r>
                      <a:r>
                        <a:rPr lang="en-US" altLang="zh-CN" sz="1600" dirty="0"/>
                        <a:t> </a:t>
                      </a:r>
                      <a:r>
                        <a:rPr lang="zh-CN" altLang="en-US" sz="1600" dirty="0"/>
                        <a:t>中也能找到以 </a:t>
                      </a:r>
                      <a:r>
                        <a:rPr lang="en-US" altLang="zh-CN" sz="1600" dirty="0"/>
                        <a:t>TTR </a:t>
                      </a:r>
                      <a:r>
                        <a:rPr lang="zh-CN" altLang="en-US" sz="1600" dirty="0"/>
                        <a:t>突变体为实验对象的测定记录。</a:t>
                      </a:r>
                    </a:p>
                  </a:txBody>
                  <a:tcPr marL="40667" marR="40667" marT="20333" marB="20333" anchor="ctr"/>
                </a:tc>
                <a:extLst>
                  <a:ext uri="{0D108BD9-81ED-4DB2-BD59-A6C34878D82A}">
                    <a16:rowId xmlns:a16="http://schemas.microsoft.com/office/drawing/2014/main" val="2376788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810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285</Words>
  <Application>Microsoft Office PowerPoint</Application>
  <PresentationFormat>宽屏</PresentationFormat>
  <Paragraphs>83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haojia tang</dc:creator>
  <cp:lastModifiedBy>haojia tang</cp:lastModifiedBy>
  <cp:revision>6</cp:revision>
  <dcterms:created xsi:type="dcterms:W3CDTF">2026-10-19T11:19:51Z</dcterms:created>
  <dcterms:modified xsi:type="dcterms:W3CDTF">2026-10-19T11:44:09Z</dcterms:modified>
</cp:coreProperties>
</file>